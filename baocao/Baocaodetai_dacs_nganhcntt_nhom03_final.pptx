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Canva Sans" charset="1" panose="020B0503030501040103"/>
      <p:regular r:id="rId56"/>
    </p:embeddedFont>
    <p:embeddedFont>
      <p:font typeface="Times New Roman" charset="1" panose="02020603050405020304"/>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0.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4.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7.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8.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9.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0.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429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TextBox 3" id="3"/>
          <p:cNvSpPr txBox="true"/>
          <p:nvPr/>
        </p:nvSpPr>
        <p:spPr>
          <a:xfrm rot="0">
            <a:off x="666750" y="2952750"/>
            <a:ext cx="16954500" cy="4381500"/>
          </a:xfrm>
          <a:prstGeom prst="rect">
            <a:avLst/>
          </a:prstGeom>
        </p:spPr>
        <p:txBody>
          <a:bodyPr anchor="t" rtlCol="false" tIns="0" lIns="0" bIns="0" rIns="0">
            <a:spAutoFit/>
          </a:bodyPr>
          <a:lstStyle/>
          <a:p>
            <a:pPr algn="ctr">
              <a:lnSpc>
                <a:spcPts val="8640"/>
              </a:lnSpc>
            </a:pPr>
          </a:p>
          <a:p>
            <a:pPr algn="ctr">
              <a:lnSpc>
                <a:spcPts val="8640"/>
              </a:lnSpc>
            </a:pPr>
            <a:r>
              <a:rPr lang="en-US" sz="7200">
                <a:solidFill>
                  <a:srgbClr val="000000"/>
                </a:solidFill>
                <a:latin typeface="Canva Sans"/>
                <a:ea typeface="Canva Sans"/>
                <a:cs typeface="Canva Sans"/>
                <a:sym typeface="Canva Sans"/>
              </a:rPr>
              <a:t>ĐỀ TÀI: </a:t>
            </a:r>
            <a:r>
              <a:rPr lang="en-US" sz="7200">
                <a:solidFill>
                  <a:srgbClr val="000000"/>
                </a:solidFill>
                <a:latin typeface="Canva Sans"/>
                <a:ea typeface="Canva Sans"/>
                <a:cs typeface="Canva Sans"/>
                <a:sym typeface="Canva Sans"/>
              </a:rPr>
              <a:t>WEB BÁN DỤNG CỤ </a:t>
            </a:r>
            <a:r>
              <a:rPr lang="en-US" sz="7200">
                <a:solidFill>
                  <a:srgbClr val="000000"/>
                </a:solidFill>
                <a:latin typeface="Canva Sans"/>
                <a:ea typeface="Canva Sans"/>
                <a:cs typeface="Canva Sans"/>
                <a:sym typeface="Canva Sans"/>
              </a:rPr>
              <a:t>THỂ THAO</a:t>
            </a:r>
          </a:p>
          <a:p>
            <a:pPr algn="ctr">
              <a:lnSpc>
                <a:spcPts val="8640"/>
              </a:lnSpc>
            </a:pPr>
            <a:r>
              <a:rPr lang="en-US" sz="7200">
                <a:solidFill>
                  <a:srgbClr val="000000"/>
                </a:solidFill>
                <a:latin typeface="Canva Sans"/>
                <a:ea typeface="Canva Sans"/>
                <a:cs typeface="Canva Sans"/>
                <a:sym typeface="Canva Sans"/>
              </a:rPr>
              <a:t>CHUYÊN CẦU LÔNG </a:t>
            </a:r>
          </a:p>
          <a:p>
            <a:pPr algn="ctr" marL="0" indent="0" lvl="0">
              <a:lnSpc>
                <a:spcPts val="8640"/>
              </a:lnSpc>
              <a:spcBef>
                <a:spcPct val="0"/>
              </a:spcBef>
            </a:pPr>
          </a:p>
        </p:txBody>
      </p:sp>
      <p:sp>
        <p:nvSpPr>
          <p:cNvPr name="TextBox 4" id="4"/>
          <p:cNvSpPr txBox="true"/>
          <p:nvPr/>
        </p:nvSpPr>
        <p:spPr>
          <a:xfrm rot="0">
            <a:off x="1028700" y="8590468"/>
            <a:ext cx="3179085" cy="667832"/>
          </a:xfrm>
          <a:prstGeom prst="rect">
            <a:avLst/>
          </a:prstGeom>
        </p:spPr>
        <p:txBody>
          <a:bodyPr anchor="t" rtlCol="false" tIns="0" lIns="0" bIns="0" rIns="0">
            <a:spAutoFit/>
          </a:bodyPr>
          <a:lstStyle/>
          <a:p>
            <a:pPr algn="ctr" marL="0" indent="0" lvl="0">
              <a:lnSpc>
                <a:spcPts val="5230"/>
              </a:lnSpc>
              <a:spcBef>
                <a:spcPct val="0"/>
              </a:spcBef>
            </a:pPr>
            <a:r>
              <a:rPr lang="en-US" sz="4358">
                <a:solidFill>
                  <a:srgbClr val="000000"/>
                </a:solidFill>
                <a:latin typeface="Canva Sans"/>
                <a:ea typeface="Canva Sans"/>
                <a:cs typeface="Canva Sans"/>
                <a:sym typeface="Canva Sans"/>
              </a:rPr>
              <a:t>Nhóm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TextBox 3" id="3"/>
          <p:cNvSpPr txBox="true"/>
          <p:nvPr/>
        </p:nvSpPr>
        <p:spPr>
          <a:xfrm rot="0">
            <a:off x="1028700" y="1028700"/>
            <a:ext cx="16592550" cy="1057275"/>
          </a:xfrm>
          <a:prstGeom prst="rect">
            <a:avLst/>
          </a:prstGeom>
        </p:spPr>
        <p:txBody>
          <a:bodyPr anchor="t" rtlCol="false" tIns="0" lIns="0" bIns="0" rIns="0">
            <a:spAutoFit/>
          </a:bodyPr>
          <a:lstStyle/>
          <a:p>
            <a:pPr algn="just" marL="0" indent="0" lvl="0">
              <a:lnSpc>
                <a:spcPts val="8399"/>
              </a:lnSpc>
              <a:spcBef>
                <a:spcPct val="0"/>
              </a:spcBef>
            </a:pPr>
            <a:r>
              <a:rPr lang="en-US" sz="6999">
                <a:solidFill>
                  <a:srgbClr val="000000"/>
                </a:solidFill>
                <a:latin typeface="Canva Sans"/>
                <a:ea typeface="Canva Sans"/>
                <a:cs typeface="Canva Sans"/>
                <a:sym typeface="Canva Sans"/>
              </a:rPr>
              <a:t>Lý do chọn đề tài</a:t>
            </a:r>
          </a:p>
        </p:txBody>
      </p:sp>
      <p:sp>
        <p:nvSpPr>
          <p:cNvPr name="TextBox 4" id="4"/>
          <p:cNvSpPr txBox="true"/>
          <p:nvPr/>
        </p:nvSpPr>
        <p:spPr>
          <a:xfrm rot="0">
            <a:off x="1028700" y="2568480"/>
            <a:ext cx="16230600" cy="4143375"/>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Times New Roman"/>
                <a:ea typeface="Times New Roman"/>
                <a:cs typeface="Times New Roman"/>
                <a:sym typeface="Times New Roman"/>
              </a:rPr>
              <a:t>Trong bối cảnh thương mại điện tử ngày càng phát triển mạnh mẽ, nhu cầu mua sắm trực tuyến của người tiêu dùng không ngừng gia tăng. Các cửa hàng quần áo truyền thống hiện nay đang gặp khó khăn trong việc tiếp cận khách hàng và quản lý hàng hóa, đặc biệt khi phải đối mặt với lượng dữ liệu sản phẩm lớn và nhu cầu mua sắm đa dạng của khách hàng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TextBox 3" id="3"/>
          <p:cNvSpPr txBox="true"/>
          <p:nvPr/>
        </p:nvSpPr>
        <p:spPr>
          <a:xfrm rot="0">
            <a:off x="1028700" y="1028700"/>
            <a:ext cx="16592550" cy="1057275"/>
          </a:xfrm>
          <a:prstGeom prst="rect">
            <a:avLst/>
          </a:prstGeom>
        </p:spPr>
        <p:txBody>
          <a:bodyPr anchor="t" rtlCol="false" tIns="0" lIns="0" bIns="0" rIns="0">
            <a:spAutoFit/>
          </a:bodyPr>
          <a:lstStyle/>
          <a:p>
            <a:pPr algn="just" marL="0" indent="0" lvl="0">
              <a:lnSpc>
                <a:spcPts val="8399"/>
              </a:lnSpc>
              <a:spcBef>
                <a:spcPct val="0"/>
              </a:spcBef>
            </a:pPr>
            <a:r>
              <a:rPr lang="en-US" sz="6999">
                <a:solidFill>
                  <a:srgbClr val="000000"/>
                </a:solidFill>
                <a:latin typeface="Canva Sans"/>
                <a:ea typeface="Canva Sans"/>
                <a:cs typeface="Canva Sans"/>
                <a:sym typeface="Canva Sans"/>
              </a:rPr>
              <a:t>Mục tiêu đề tài</a:t>
            </a:r>
          </a:p>
        </p:txBody>
      </p:sp>
      <p:sp>
        <p:nvSpPr>
          <p:cNvPr name="TextBox 4" id="4"/>
          <p:cNvSpPr txBox="true"/>
          <p:nvPr/>
        </p:nvSpPr>
        <p:spPr>
          <a:xfrm rot="0">
            <a:off x="1028700" y="2406015"/>
            <a:ext cx="16230600" cy="6200775"/>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Times New Roman"/>
                <a:ea typeface="Times New Roman"/>
                <a:cs typeface="Times New Roman"/>
                <a:sym typeface="Times New Roman"/>
              </a:rPr>
              <a:t>Mục</a:t>
            </a:r>
            <a:r>
              <a:rPr lang="en-US" sz="4500">
                <a:solidFill>
                  <a:srgbClr val="000000"/>
                </a:solidFill>
                <a:latin typeface="Times New Roman"/>
                <a:ea typeface="Times New Roman"/>
                <a:cs typeface="Times New Roman"/>
                <a:sym typeface="Times New Roman"/>
              </a:rPr>
              <a:t> tiêu của đề tài là xây dựng một website bán quần áo trực tuyến với các chức năng cơ bản như quản lý sản phẩm, giỏ hàng, đặt hàng và thanh toán. Hệ thống hướng đến người dùng là khách hàng mua sắm trực tuyến và chủ cửa hàng quản lý dữ liệu sản phẩm. Kết quả cần đạt được bao gồm một trang web hoạt động ổn định, có giao diện thân thiện, dễ sử dụng, đồng thời áp dụng các công nghệ MongoDB, NodeJS và ReactJS để đảm bảo hiệu suất xử lý dữ liệu, khả năng mở rộng và trải nghiệm người dùng tốt.</a:t>
            </a:r>
          </a:p>
          <a:p>
            <a:pPr algn="just">
              <a:lnSpc>
                <a:spcPts val="540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TextBox 3" id="3"/>
          <p:cNvSpPr txBox="true"/>
          <p:nvPr/>
        </p:nvSpPr>
        <p:spPr>
          <a:xfrm rot="0">
            <a:off x="1028700" y="500062"/>
            <a:ext cx="16592550" cy="1057275"/>
          </a:xfrm>
          <a:prstGeom prst="rect">
            <a:avLst/>
          </a:prstGeom>
        </p:spPr>
        <p:txBody>
          <a:bodyPr anchor="t" rtlCol="false" tIns="0" lIns="0" bIns="0" rIns="0">
            <a:spAutoFit/>
          </a:bodyPr>
          <a:lstStyle/>
          <a:p>
            <a:pPr algn="just" marL="0" indent="0" lvl="0">
              <a:lnSpc>
                <a:spcPts val="8399"/>
              </a:lnSpc>
              <a:spcBef>
                <a:spcPct val="0"/>
              </a:spcBef>
            </a:pPr>
            <a:r>
              <a:rPr lang="en-US" sz="6999">
                <a:solidFill>
                  <a:srgbClr val="000000"/>
                </a:solidFill>
                <a:latin typeface="Canva Sans"/>
                <a:ea typeface="Canva Sans"/>
                <a:cs typeface="Canva Sans"/>
                <a:sym typeface="Canva Sans"/>
              </a:rPr>
              <a:t>Thư viện sử dụng</a:t>
            </a:r>
          </a:p>
        </p:txBody>
      </p:sp>
      <p:sp>
        <p:nvSpPr>
          <p:cNvPr name="TextBox 4" id="4"/>
          <p:cNvSpPr txBox="true"/>
          <p:nvPr/>
        </p:nvSpPr>
        <p:spPr>
          <a:xfrm rot="0">
            <a:off x="1028700" y="1755284"/>
            <a:ext cx="16230600" cy="6981825"/>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Times New Roman"/>
                <a:ea typeface="Times New Roman"/>
                <a:cs typeface="Times New Roman"/>
                <a:sym typeface="Times New Roman"/>
              </a:rPr>
              <a:t>MongoDB:khả năng lưu trữ dữ liệu dạng linh hoạt, dễ dàng mở rộng theo quy mô hệ thống và tích hợp tốt với các ứng dụng web hiện đại. </a:t>
            </a:r>
            <a:r>
              <a:rPr lang="en-US" sz="4500">
                <a:solidFill>
                  <a:srgbClr val="000000"/>
                </a:solidFill>
                <a:latin typeface="Times New Roman"/>
                <a:ea typeface="Times New Roman"/>
                <a:cs typeface="Times New Roman"/>
                <a:sym typeface="Times New Roman"/>
              </a:rPr>
              <a:t>  </a:t>
            </a:r>
          </a:p>
          <a:p>
            <a:pPr algn="just">
              <a:lnSpc>
                <a:spcPts val="5400"/>
              </a:lnSpc>
              <a:spcBef>
                <a:spcPct val="0"/>
              </a:spcBef>
            </a:pPr>
            <a:r>
              <a:rPr lang="en-US" sz="4500">
                <a:solidFill>
                  <a:srgbClr val="000000"/>
                </a:solidFill>
                <a:latin typeface="Times New Roman"/>
                <a:ea typeface="Times New Roman"/>
                <a:cs typeface="Times New Roman"/>
                <a:sym typeface="Times New Roman"/>
              </a:rPr>
              <a:t>NodeJS:mở rộng, xử lý dữ liệu nhanh và dễ dàng tích hợp với MongoDB thông qua các thư viện như Mongoose. </a:t>
            </a:r>
          </a:p>
          <a:p>
            <a:pPr algn="just">
              <a:lnSpc>
                <a:spcPts val="5400"/>
              </a:lnSpc>
              <a:spcBef>
                <a:spcPct val="0"/>
              </a:spcBef>
            </a:pPr>
            <a:r>
              <a:rPr lang="en-US" sz="4500">
                <a:solidFill>
                  <a:srgbClr val="000000"/>
                </a:solidFill>
                <a:latin typeface="Times New Roman"/>
                <a:ea typeface="Times New Roman"/>
                <a:cs typeface="Times New Roman"/>
                <a:sym typeface="Times New Roman"/>
              </a:rPr>
              <a:t>ReactJS:tái sử dụng component, quản lý trạng thái hiệu quả và cập nhật giao diện nhanh chóng nhờ cơ chế Virtual DOM. </a:t>
            </a:r>
          </a:p>
          <a:p>
            <a:pPr algn="just">
              <a:lnSpc>
                <a:spcPts val="5400"/>
              </a:lnSpc>
              <a:spcBef>
                <a:spcPct val="0"/>
              </a:spcBef>
            </a:pPr>
            <a:r>
              <a:rPr lang="en-US" sz="4500">
                <a:solidFill>
                  <a:srgbClr val="000000"/>
                </a:solidFill>
                <a:latin typeface="Times New Roman"/>
                <a:ea typeface="Times New Roman"/>
                <a:cs typeface="Times New Roman"/>
                <a:sym typeface="Times New Roman"/>
              </a:rPr>
              <a:t>PayOS:trung gian công nghệ kết nối trực tiếp giữa ứng dụng và hệ thống ngân hàng, giúp tự động hóa quá trình xác nhận giao dịch.</a:t>
            </a:r>
          </a:p>
          <a:p>
            <a:pPr algn="just">
              <a:lnSpc>
                <a:spcPts val="5813"/>
              </a:lnSpc>
              <a:spcBef>
                <a:spcPct val="0"/>
              </a:spcBef>
            </a:pPr>
          </a:p>
          <a:p>
            <a:pPr algn="just">
              <a:lnSpc>
                <a:spcPts val="581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TextBox 3" id="3"/>
          <p:cNvSpPr txBox="true"/>
          <p:nvPr/>
        </p:nvSpPr>
        <p:spPr>
          <a:xfrm rot="0">
            <a:off x="666750" y="500062"/>
            <a:ext cx="16592550" cy="1057275"/>
          </a:xfrm>
          <a:prstGeom prst="rect">
            <a:avLst/>
          </a:prstGeom>
        </p:spPr>
        <p:txBody>
          <a:bodyPr anchor="t" rtlCol="false" tIns="0" lIns="0" bIns="0" rIns="0">
            <a:spAutoFit/>
          </a:bodyPr>
          <a:lstStyle/>
          <a:p>
            <a:pPr algn="just" marL="0" indent="0" lvl="0">
              <a:lnSpc>
                <a:spcPts val="8399"/>
              </a:lnSpc>
              <a:spcBef>
                <a:spcPct val="0"/>
              </a:spcBef>
            </a:pPr>
            <a:r>
              <a:rPr lang="en-US" sz="6999">
                <a:solidFill>
                  <a:srgbClr val="000000"/>
                </a:solidFill>
                <a:latin typeface="Canva Sans"/>
                <a:ea typeface="Canva Sans"/>
                <a:cs typeface="Canva Sans"/>
                <a:sym typeface="Canva Sans"/>
              </a:rPr>
              <a:t> Phân tích hệ thống</a:t>
            </a:r>
          </a:p>
        </p:txBody>
      </p:sp>
      <p:sp>
        <p:nvSpPr>
          <p:cNvPr name="TextBox 4" id="4"/>
          <p:cNvSpPr txBox="true"/>
          <p:nvPr/>
        </p:nvSpPr>
        <p:spPr>
          <a:xfrm rot="0">
            <a:off x="1028700" y="1762558"/>
            <a:ext cx="16230600" cy="8258175"/>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Times New Roman"/>
                <a:ea typeface="Times New Roman"/>
                <a:cs typeface="Times New Roman"/>
                <a:sym typeface="Times New Roman"/>
              </a:rPr>
              <a:t>Khảo sát yêu cầu hệ thống</a:t>
            </a:r>
          </a:p>
          <a:p>
            <a:pPr algn="just">
              <a:lnSpc>
                <a:spcPts val="5400"/>
              </a:lnSpc>
              <a:spcBef>
                <a:spcPct val="0"/>
              </a:spcBef>
            </a:pPr>
            <a:r>
              <a:rPr lang="en-US" sz="4500">
                <a:solidFill>
                  <a:srgbClr val="000000"/>
                </a:solidFill>
                <a:latin typeface="Times New Roman"/>
                <a:ea typeface="Times New Roman"/>
                <a:cs typeface="Times New Roman"/>
                <a:sym typeface="Times New Roman"/>
              </a:rPr>
              <a:t>Về chức năng, hệ thống cần hỗ trợ quản lý sản phẩm (thêm, sửa, xóa và phân loại), quản lý người dùng với phân quyền rõ ràng, quản lý quy trình xử lý đơn hàng, cùng với giỏ hàng cho phép điều chỉnh số lượng và tính tổng tiền.Ngoài ra, hệ thống phải có chức năng tìm kiếm và lọc sản phẩm theo giá, kích thước, thương hiệu hoặc loại sản phẩm.</a:t>
            </a:r>
          </a:p>
          <a:p>
            <a:pPr algn="just">
              <a:lnSpc>
                <a:spcPts val="5400"/>
              </a:lnSpc>
              <a:spcBef>
                <a:spcPct val="0"/>
              </a:spcBef>
            </a:pPr>
            <a:r>
              <a:rPr lang="en-US" sz="4500">
                <a:solidFill>
                  <a:srgbClr val="000000"/>
                </a:solidFill>
                <a:latin typeface="Times New Roman"/>
                <a:ea typeface="Times New Roman"/>
                <a:cs typeface="Times New Roman"/>
                <a:sym typeface="Times New Roman"/>
              </a:rPr>
              <a:t>Các yêu cầu phi chức năng bao gồm đảm bảo hệ thống hoạt động ổn định, tốc độ phản hồi nhanh, dữ liệu an toàn và có khả năng sao lưu. Hệ thống cần bảo mật thông tin người dùng, dễ mở rộng khi lượng người truy cập tăng và tương thích với nhiều thiết bị.</a:t>
            </a:r>
          </a:p>
          <a:p>
            <a:pPr algn="just">
              <a:lnSpc>
                <a:spcPts val="5400"/>
              </a:lnSpc>
              <a:spcBef>
                <a:spcPct val="0"/>
              </a:spcBef>
            </a:pPr>
          </a:p>
          <a:p>
            <a:pPr algn="just">
              <a:lnSpc>
                <a:spcPts val="54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511861" y="1537951"/>
            <a:ext cx="11264279" cy="7720349"/>
          </a:xfrm>
          <a:custGeom>
            <a:avLst/>
            <a:gdLst/>
            <a:ahLst/>
            <a:cxnLst/>
            <a:rect r="r" b="b" t="t" l="l"/>
            <a:pathLst>
              <a:path h="7720349" w="11264279">
                <a:moveTo>
                  <a:pt x="0" y="0"/>
                </a:moveTo>
                <a:lnTo>
                  <a:pt x="11264278" y="0"/>
                </a:lnTo>
                <a:lnTo>
                  <a:pt x="11264278" y="7720349"/>
                </a:lnTo>
                <a:lnTo>
                  <a:pt x="0" y="7720349"/>
                </a:lnTo>
                <a:lnTo>
                  <a:pt x="0" y="0"/>
                </a:lnTo>
                <a:close/>
              </a:path>
            </a:pathLst>
          </a:custGeom>
          <a:blipFill>
            <a:blip r:embed="rId3"/>
            <a:stretch>
              <a:fillRect l="0" t="-701" r="0" b="-701"/>
            </a:stretch>
          </a:blipFill>
        </p:spPr>
      </p:sp>
      <p:sp>
        <p:nvSpPr>
          <p:cNvPr name="TextBox 4" id="4"/>
          <p:cNvSpPr txBox="true"/>
          <p:nvPr/>
        </p:nvSpPr>
        <p:spPr>
          <a:xfrm rot="0">
            <a:off x="1028700" y="571500"/>
            <a:ext cx="1659255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Use case tổng quát</a:t>
            </a:r>
          </a:p>
        </p:txBody>
      </p:sp>
      <p:sp>
        <p:nvSpPr>
          <p:cNvPr name="TextBox 5" id="5"/>
          <p:cNvSpPr txBox="true"/>
          <p:nvPr/>
        </p:nvSpPr>
        <p:spPr>
          <a:xfrm rot="0">
            <a:off x="5476042" y="9258300"/>
            <a:ext cx="7697867" cy="533400"/>
          </a:xfrm>
          <a:prstGeom prst="rect">
            <a:avLst/>
          </a:prstGeom>
        </p:spPr>
        <p:txBody>
          <a:bodyPr anchor="t" rtlCol="false" tIns="0" lIns="0" bIns="0" rIns="0">
            <a:spAutoFit/>
          </a:bodyPr>
          <a:lstStyle/>
          <a:p>
            <a:pPr algn="ctr">
              <a:lnSpc>
                <a:spcPts val="4200"/>
              </a:lnSpc>
              <a:spcBef>
                <a:spcPct val="0"/>
              </a:spcBef>
            </a:pPr>
            <a:r>
              <a:rPr lang="en-US" sz="3500">
                <a:solidFill>
                  <a:srgbClr val="000000"/>
                </a:solidFill>
                <a:latin typeface="Canva Sans"/>
                <a:ea typeface="Canva Sans"/>
                <a:cs typeface="Canva Sans"/>
                <a:sym typeface="Canva Sans"/>
              </a:rPr>
              <a:t>Biểu đồ Use case khách hàng/Admin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384752" y="1485900"/>
            <a:ext cx="11880447" cy="8063853"/>
          </a:xfrm>
          <a:custGeom>
            <a:avLst/>
            <a:gdLst/>
            <a:ahLst/>
            <a:cxnLst/>
            <a:rect r="r" b="b" t="t" l="l"/>
            <a:pathLst>
              <a:path h="8063853" w="11880447">
                <a:moveTo>
                  <a:pt x="0" y="0"/>
                </a:moveTo>
                <a:lnTo>
                  <a:pt x="11880446" y="0"/>
                </a:lnTo>
                <a:lnTo>
                  <a:pt x="11880446" y="8063853"/>
                </a:lnTo>
                <a:lnTo>
                  <a:pt x="0" y="8063853"/>
                </a:lnTo>
                <a:lnTo>
                  <a:pt x="0" y="0"/>
                </a:lnTo>
                <a:close/>
              </a:path>
            </a:pathLst>
          </a:custGeom>
          <a:blipFill>
            <a:blip r:embed="rId3"/>
            <a:stretch>
              <a:fillRect l="0" t="0" r="0" b="0"/>
            </a:stretch>
          </a:blipFill>
        </p:spPr>
      </p:sp>
      <p:sp>
        <p:nvSpPr>
          <p:cNvPr name="TextBox 4" id="4"/>
          <p:cNvSpPr txBox="true"/>
          <p:nvPr/>
        </p:nvSpPr>
        <p:spPr>
          <a:xfrm rot="0">
            <a:off x="1028700" y="571500"/>
            <a:ext cx="1659255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đăng nhập/ đăng ký:</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763944" y="2862298"/>
            <a:ext cx="14760111" cy="4630985"/>
          </a:xfrm>
          <a:custGeom>
            <a:avLst/>
            <a:gdLst/>
            <a:ahLst/>
            <a:cxnLst/>
            <a:rect r="r" b="b" t="t" l="l"/>
            <a:pathLst>
              <a:path h="4630985" w="14760111">
                <a:moveTo>
                  <a:pt x="0" y="0"/>
                </a:moveTo>
                <a:lnTo>
                  <a:pt x="14760112" y="0"/>
                </a:lnTo>
                <a:lnTo>
                  <a:pt x="14760112" y="4630984"/>
                </a:lnTo>
                <a:lnTo>
                  <a:pt x="0" y="4630984"/>
                </a:lnTo>
                <a:lnTo>
                  <a:pt x="0" y="0"/>
                </a:lnTo>
                <a:close/>
              </a:path>
            </a:pathLst>
          </a:custGeom>
          <a:blipFill>
            <a:blip r:embed="rId3"/>
            <a:stretch>
              <a:fillRect l="0" t="0" r="0" b="0"/>
            </a:stretch>
          </a:blipFill>
        </p:spPr>
      </p:sp>
      <p:sp>
        <p:nvSpPr>
          <p:cNvPr name="TextBox 4" id="4"/>
          <p:cNvSpPr txBox="true"/>
          <p:nvPr/>
        </p:nvSpPr>
        <p:spPr>
          <a:xfrm rot="0">
            <a:off x="1028700" y="571500"/>
            <a:ext cx="1659255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xem chi tiết sản phẩm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705610" y="2955571"/>
            <a:ext cx="14876781" cy="4444438"/>
          </a:xfrm>
          <a:custGeom>
            <a:avLst/>
            <a:gdLst/>
            <a:ahLst/>
            <a:cxnLst/>
            <a:rect r="r" b="b" t="t" l="l"/>
            <a:pathLst>
              <a:path h="4444438" w="14876781">
                <a:moveTo>
                  <a:pt x="0" y="0"/>
                </a:moveTo>
                <a:lnTo>
                  <a:pt x="14876780" y="0"/>
                </a:lnTo>
                <a:lnTo>
                  <a:pt x="14876780" y="4444438"/>
                </a:lnTo>
                <a:lnTo>
                  <a:pt x="0" y="4444438"/>
                </a:lnTo>
                <a:lnTo>
                  <a:pt x="0" y="0"/>
                </a:lnTo>
                <a:close/>
              </a:path>
            </a:pathLst>
          </a:custGeom>
          <a:blipFill>
            <a:blip r:embed="rId3"/>
            <a:stretch>
              <a:fillRect l="0" t="0" r="0" b="0"/>
            </a:stretch>
          </a:blipFill>
        </p:spPr>
      </p:sp>
      <p:sp>
        <p:nvSpPr>
          <p:cNvPr name="TextBox 4" id="4"/>
          <p:cNvSpPr txBox="true"/>
          <p:nvPr/>
        </p:nvSpPr>
        <p:spPr>
          <a:xfrm rot="0">
            <a:off x="1028700" y="1016926"/>
            <a:ext cx="16230600" cy="18288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tìm kiếm sản phẩm</a:t>
            </a:r>
          </a:p>
          <a:p>
            <a:pPr algn="just" marL="0" indent="0" lvl="0">
              <a:lnSpc>
                <a:spcPts val="72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305245" y="1485900"/>
            <a:ext cx="11677510" cy="8509985"/>
          </a:xfrm>
          <a:custGeom>
            <a:avLst/>
            <a:gdLst/>
            <a:ahLst/>
            <a:cxnLst/>
            <a:rect r="r" b="b" t="t" l="l"/>
            <a:pathLst>
              <a:path h="8509985" w="11677510">
                <a:moveTo>
                  <a:pt x="0" y="0"/>
                </a:moveTo>
                <a:lnTo>
                  <a:pt x="11677510" y="0"/>
                </a:lnTo>
                <a:lnTo>
                  <a:pt x="11677510" y="8509985"/>
                </a:lnTo>
                <a:lnTo>
                  <a:pt x="0" y="8509985"/>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chi tiết sản phẩm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322338" y="1762390"/>
            <a:ext cx="11643324" cy="7902906"/>
          </a:xfrm>
          <a:custGeom>
            <a:avLst/>
            <a:gdLst/>
            <a:ahLst/>
            <a:cxnLst/>
            <a:rect r="r" b="b" t="t" l="l"/>
            <a:pathLst>
              <a:path h="7902906" w="11643324">
                <a:moveTo>
                  <a:pt x="0" y="0"/>
                </a:moveTo>
                <a:lnTo>
                  <a:pt x="11643324" y="0"/>
                </a:lnTo>
                <a:lnTo>
                  <a:pt x="11643324" y="7902906"/>
                </a:lnTo>
                <a:lnTo>
                  <a:pt x="0" y="7902906"/>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giỏ hàng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674182" y="1485900"/>
            <a:ext cx="12939636" cy="8006400"/>
          </a:xfrm>
          <a:custGeom>
            <a:avLst/>
            <a:gdLst/>
            <a:ahLst/>
            <a:cxnLst/>
            <a:rect r="r" b="b" t="t" l="l"/>
            <a:pathLst>
              <a:path h="8006400" w="12939636">
                <a:moveTo>
                  <a:pt x="0" y="0"/>
                </a:moveTo>
                <a:lnTo>
                  <a:pt x="12939636" y="0"/>
                </a:lnTo>
                <a:lnTo>
                  <a:pt x="12939636" y="8006400"/>
                </a:lnTo>
                <a:lnTo>
                  <a:pt x="0" y="8006400"/>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thanh toán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079450" y="1267729"/>
            <a:ext cx="14129099" cy="8541708"/>
          </a:xfrm>
          <a:custGeom>
            <a:avLst/>
            <a:gdLst/>
            <a:ahLst/>
            <a:cxnLst/>
            <a:rect r="r" b="b" t="t" l="l"/>
            <a:pathLst>
              <a:path h="8541708" w="14129099">
                <a:moveTo>
                  <a:pt x="0" y="0"/>
                </a:moveTo>
                <a:lnTo>
                  <a:pt x="14129100" y="0"/>
                </a:lnTo>
                <a:lnTo>
                  <a:pt x="14129100" y="8541708"/>
                </a:lnTo>
                <a:lnTo>
                  <a:pt x="0" y="8541708"/>
                </a:lnTo>
                <a:lnTo>
                  <a:pt x="0" y="0"/>
                </a:lnTo>
                <a:close/>
              </a:path>
            </a:pathLst>
          </a:custGeom>
          <a:blipFill>
            <a:blip r:embed="rId3"/>
            <a:stretch>
              <a:fillRect l="0" t="-1484" r="0" b="-1484"/>
            </a:stretch>
          </a:blipFill>
        </p:spPr>
      </p:sp>
      <p:sp>
        <p:nvSpPr>
          <p:cNvPr name="TextBox 4" id="4"/>
          <p:cNvSpPr txBox="true"/>
          <p:nvPr/>
        </p:nvSpPr>
        <p:spPr>
          <a:xfrm rot="0">
            <a:off x="1028700" y="114300"/>
            <a:ext cx="16230600" cy="18288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đăng nhập Admin</a:t>
            </a:r>
          </a:p>
          <a:p>
            <a:pPr algn="just" marL="0" indent="0" lvl="0">
              <a:lnSpc>
                <a:spcPts val="720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969599" y="1843507"/>
            <a:ext cx="12348802" cy="8443493"/>
          </a:xfrm>
          <a:custGeom>
            <a:avLst/>
            <a:gdLst/>
            <a:ahLst/>
            <a:cxnLst/>
            <a:rect r="r" b="b" t="t" l="l"/>
            <a:pathLst>
              <a:path h="8443493" w="12348802">
                <a:moveTo>
                  <a:pt x="0" y="0"/>
                </a:moveTo>
                <a:lnTo>
                  <a:pt x="12348802" y="0"/>
                </a:lnTo>
                <a:lnTo>
                  <a:pt x="12348802" y="8443493"/>
                </a:lnTo>
                <a:lnTo>
                  <a:pt x="0" y="8443493"/>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Usecase quản lý sản phẩm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204995" y="1678586"/>
            <a:ext cx="11878010" cy="7839486"/>
          </a:xfrm>
          <a:custGeom>
            <a:avLst/>
            <a:gdLst/>
            <a:ahLst/>
            <a:cxnLst/>
            <a:rect r="r" b="b" t="t" l="l"/>
            <a:pathLst>
              <a:path h="7839486" w="11878010">
                <a:moveTo>
                  <a:pt x="0" y="0"/>
                </a:moveTo>
                <a:lnTo>
                  <a:pt x="11878010" y="0"/>
                </a:lnTo>
                <a:lnTo>
                  <a:pt x="11878010" y="7839487"/>
                </a:lnTo>
                <a:lnTo>
                  <a:pt x="0" y="7839487"/>
                </a:lnTo>
                <a:lnTo>
                  <a:pt x="0" y="0"/>
                </a:lnTo>
                <a:close/>
              </a:path>
            </a:pathLst>
          </a:custGeom>
          <a:blipFill>
            <a:blip r:embed="rId3"/>
            <a:stretch>
              <a:fillRect l="0" t="0" r="0" b="0"/>
            </a:stretch>
          </a:blipFill>
        </p:spPr>
      </p:sp>
      <p:sp>
        <p:nvSpPr>
          <p:cNvPr name="TextBox 4" id="4"/>
          <p:cNvSpPr txBox="true"/>
          <p:nvPr/>
        </p:nvSpPr>
        <p:spPr>
          <a:xfrm rot="0">
            <a:off x="1028700" y="452005"/>
            <a:ext cx="16230600" cy="1828800"/>
          </a:xfrm>
          <a:prstGeom prst="rect">
            <a:avLst/>
          </a:prstGeom>
        </p:spPr>
        <p:txBody>
          <a:bodyPr anchor="t" rtlCol="false" tIns="0" lIns="0" bIns="0" rIns="0">
            <a:spAutoFit/>
          </a:bodyPr>
          <a:lstStyle/>
          <a:p>
            <a:pPr algn="just">
              <a:lnSpc>
                <a:spcPts val="7200"/>
              </a:lnSpc>
            </a:pPr>
            <a:r>
              <a:rPr lang="en-US" sz="6000">
                <a:solidFill>
                  <a:srgbClr val="000000"/>
                </a:solidFill>
                <a:latin typeface="Canva Sans"/>
                <a:ea typeface="Canva Sans"/>
                <a:cs typeface="Canva Sans"/>
                <a:sym typeface="Canva Sans"/>
              </a:rPr>
              <a:t>Usecase Quản lí đơn hàng</a:t>
            </a:r>
          </a:p>
          <a:p>
            <a:pPr algn="just" marL="0" indent="0" lvl="0">
              <a:lnSpc>
                <a:spcPts val="720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271991" y="1674472"/>
            <a:ext cx="11744019" cy="8103373"/>
          </a:xfrm>
          <a:custGeom>
            <a:avLst/>
            <a:gdLst/>
            <a:ahLst/>
            <a:cxnLst/>
            <a:rect r="r" b="b" t="t" l="l"/>
            <a:pathLst>
              <a:path h="8103373" w="11744019">
                <a:moveTo>
                  <a:pt x="0" y="0"/>
                </a:moveTo>
                <a:lnTo>
                  <a:pt x="11744018" y="0"/>
                </a:lnTo>
                <a:lnTo>
                  <a:pt x="11744018" y="8103373"/>
                </a:lnTo>
                <a:lnTo>
                  <a:pt x="0" y="8103373"/>
                </a:lnTo>
                <a:lnTo>
                  <a:pt x="0" y="0"/>
                </a:lnTo>
                <a:close/>
              </a:path>
            </a:pathLst>
          </a:custGeom>
          <a:blipFill>
            <a:blip r:embed="rId3"/>
            <a:stretch>
              <a:fillRect l="0" t="0" r="0" b="0"/>
            </a:stretch>
          </a:blipFill>
        </p:spPr>
      </p:sp>
      <p:sp>
        <p:nvSpPr>
          <p:cNvPr name="TextBox 4" id="4"/>
          <p:cNvSpPr txBox="true"/>
          <p:nvPr/>
        </p:nvSpPr>
        <p:spPr>
          <a:xfrm rot="0">
            <a:off x="1028700" y="452005"/>
            <a:ext cx="16230600" cy="1828800"/>
          </a:xfrm>
          <a:prstGeom prst="rect">
            <a:avLst/>
          </a:prstGeom>
        </p:spPr>
        <p:txBody>
          <a:bodyPr anchor="t" rtlCol="false" tIns="0" lIns="0" bIns="0" rIns="0">
            <a:spAutoFit/>
          </a:bodyPr>
          <a:lstStyle/>
          <a:p>
            <a:pPr algn="just">
              <a:lnSpc>
                <a:spcPts val="7200"/>
              </a:lnSpc>
            </a:pPr>
            <a:r>
              <a:rPr lang="en-US" sz="6000">
                <a:solidFill>
                  <a:srgbClr val="000000"/>
                </a:solidFill>
                <a:latin typeface="Canva Sans"/>
                <a:ea typeface="Canva Sans"/>
                <a:cs typeface="Canva Sans"/>
                <a:sym typeface="Canva Sans"/>
              </a:rPr>
              <a:t>Usecase quản lý khách hàng</a:t>
            </a:r>
          </a:p>
          <a:p>
            <a:pPr algn="just" marL="0" indent="0" lvl="0">
              <a:lnSpc>
                <a:spcPts val="720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226646" y="1995079"/>
            <a:ext cx="13834707" cy="7263221"/>
          </a:xfrm>
          <a:custGeom>
            <a:avLst/>
            <a:gdLst/>
            <a:ahLst/>
            <a:cxnLst/>
            <a:rect r="r" b="b" t="t" l="l"/>
            <a:pathLst>
              <a:path h="7263221" w="13834707">
                <a:moveTo>
                  <a:pt x="0" y="0"/>
                </a:moveTo>
                <a:lnTo>
                  <a:pt x="13834708" y="0"/>
                </a:lnTo>
                <a:lnTo>
                  <a:pt x="13834708" y="7263221"/>
                </a:lnTo>
                <a:lnTo>
                  <a:pt x="0" y="7263221"/>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các chức năng</a:t>
            </a:r>
          </a:p>
        </p:txBody>
      </p:sp>
      <p:sp>
        <p:nvSpPr>
          <p:cNvPr name="TextBox 5" id="5"/>
          <p:cNvSpPr txBox="true"/>
          <p:nvPr/>
        </p:nvSpPr>
        <p:spPr>
          <a:xfrm rot="0">
            <a:off x="6322159" y="9258300"/>
            <a:ext cx="5643682" cy="533400"/>
          </a:xfrm>
          <a:prstGeom prst="rect">
            <a:avLst/>
          </a:prstGeom>
        </p:spPr>
        <p:txBody>
          <a:bodyPr anchor="t" rtlCol="false" tIns="0" lIns="0" bIns="0" rIns="0">
            <a:spAutoFit/>
          </a:bodyPr>
          <a:lstStyle/>
          <a:p>
            <a:pPr algn="ctr">
              <a:lnSpc>
                <a:spcPts val="4200"/>
              </a:lnSpc>
              <a:spcBef>
                <a:spcPct val="0"/>
              </a:spcBef>
            </a:pPr>
            <a:r>
              <a:rPr lang="en-US" sz="3500">
                <a:solidFill>
                  <a:srgbClr val="000000"/>
                </a:solidFill>
                <a:latin typeface="Canva Sans"/>
                <a:ea typeface="Canva Sans"/>
                <a:cs typeface="Canva Sans"/>
                <a:sym typeface="Canva Sans"/>
              </a:rPr>
              <a:t>Biểu đồ hoạt động đăng ký</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237903" y="1747919"/>
            <a:ext cx="13812194" cy="7510381"/>
          </a:xfrm>
          <a:custGeom>
            <a:avLst/>
            <a:gdLst/>
            <a:ahLst/>
            <a:cxnLst/>
            <a:rect r="r" b="b" t="t" l="l"/>
            <a:pathLst>
              <a:path h="7510381" w="13812194">
                <a:moveTo>
                  <a:pt x="0" y="0"/>
                </a:moveTo>
                <a:lnTo>
                  <a:pt x="13812194" y="0"/>
                </a:lnTo>
                <a:lnTo>
                  <a:pt x="13812194" y="7510381"/>
                </a:lnTo>
                <a:lnTo>
                  <a:pt x="0" y="7510381"/>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đăng nhập</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651155" y="1902013"/>
            <a:ext cx="12985690" cy="7823878"/>
          </a:xfrm>
          <a:custGeom>
            <a:avLst/>
            <a:gdLst/>
            <a:ahLst/>
            <a:cxnLst/>
            <a:rect r="r" b="b" t="t" l="l"/>
            <a:pathLst>
              <a:path h="7823878" w="12985690">
                <a:moveTo>
                  <a:pt x="0" y="0"/>
                </a:moveTo>
                <a:lnTo>
                  <a:pt x="12985690" y="0"/>
                </a:lnTo>
                <a:lnTo>
                  <a:pt x="12985690" y="7823878"/>
                </a:lnTo>
                <a:lnTo>
                  <a:pt x="0" y="7823878"/>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đăng xuất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700067" y="1893589"/>
            <a:ext cx="12887866" cy="7764939"/>
          </a:xfrm>
          <a:custGeom>
            <a:avLst/>
            <a:gdLst/>
            <a:ahLst/>
            <a:cxnLst/>
            <a:rect r="r" b="b" t="t" l="l"/>
            <a:pathLst>
              <a:path h="7764939" w="12887866">
                <a:moveTo>
                  <a:pt x="0" y="0"/>
                </a:moveTo>
                <a:lnTo>
                  <a:pt x="12887866" y="0"/>
                </a:lnTo>
                <a:lnTo>
                  <a:pt x="12887866" y="7764939"/>
                </a:lnTo>
                <a:lnTo>
                  <a:pt x="0" y="7764939"/>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xem danh sách sản phẩm</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195572" y="1669473"/>
            <a:ext cx="13896855" cy="8039100"/>
          </a:xfrm>
          <a:custGeom>
            <a:avLst/>
            <a:gdLst/>
            <a:ahLst/>
            <a:cxnLst/>
            <a:rect r="r" b="b" t="t" l="l"/>
            <a:pathLst>
              <a:path h="8039100" w="13896855">
                <a:moveTo>
                  <a:pt x="0" y="0"/>
                </a:moveTo>
                <a:lnTo>
                  <a:pt x="13896856" y="0"/>
                </a:lnTo>
                <a:lnTo>
                  <a:pt x="13896856" y="8039100"/>
                </a:lnTo>
                <a:lnTo>
                  <a:pt x="0" y="8039100"/>
                </a:lnTo>
                <a:lnTo>
                  <a:pt x="0" y="0"/>
                </a:lnTo>
                <a:close/>
              </a:path>
            </a:pathLst>
          </a:custGeom>
          <a:blipFill>
            <a:blip r:embed="rId3"/>
            <a:stretch>
              <a:fillRect l="-1765" t="0" r="-1765"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tìm kiếm sản phẩm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847666" y="1718848"/>
            <a:ext cx="14592667" cy="7752354"/>
          </a:xfrm>
          <a:custGeom>
            <a:avLst/>
            <a:gdLst/>
            <a:ahLst/>
            <a:cxnLst/>
            <a:rect r="r" b="b" t="t" l="l"/>
            <a:pathLst>
              <a:path h="7752354" w="14592667">
                <a:moveTo>
                  <a:pt x="0" y="0"/>
                </a:moveTo>
                <a:lnTo>
                  <a:pt x="14592668" y="0"/>
                </a:lnTo>
                <a:lnTo>
                  <a:pt x="14592668" y="7752355"/>
                </a:lnTo>
                <a:lnTo>
                  <a:pt x="0" y="7752355"/>
                </a:lnTo>
                <a:lnTo>
                  <a:pt x="0" y="0"/>
                </a:lnTo>
                <a:close/>
              </a:path>
            </a:pathLst>
          </a:custGeom>
          <a:blipFill>
            <a:blip r:embed="rId3"/>
            <a:stretch>
              <a:fillRect l="0" t="0" r="0" b="0"/>
            </a:stretch>
          </a:blipFill>
        </p:spPr>
      </p:sp>
      <p:sp>
        <p:nvSpPr>
          <p:cNvPr name="TextBox 4" id="4"/>
          <p:cNvSpPr txBox="true"/>
          <p:nvPr/>
        </p:nvSpPr>
        <p:spPr>
          <a:xfrm rot="0">
            <a:off x="1028700" y="581025"/>
            <a:ext cx="16895618" cy="885825"/>
          </a:xfrm>
          <a:prstGeom prst="rect">
            <a:avLst/>
          </a:prstGeom>
        </p:spPr>
        <p:txBody>
          <a:bodyPr anchor="t" rtlCol="false" tIns="0" lIns="0" bIns="0" rIns="0">
            <a:spAutoFit/>
          </a:bodyPr>
          <a:lstStyle/>
          <a:p>
            <a:pPr algn="just" marL="0" indent="0" lvl="0">
              <a:lnSpc>
                <a:spcPts val="6960"/>
              </a:lnSpc>
              <a:spcBef>
                <a:spcPct val="0"/>
              </a:spcBef>
            </a:pPr>
            <a:r>
              <a:rPr lang="en-US" sz="5800">
                <a:solidFill>
                  <a:srgbClr val="000000"/>
                </a:solidFill>
                <a:latin typeface="Canva Sans"/>
                <a:ea typeface="Canva Sans"/>
                <a:cs typeface="Canva Sans"/>
                <a:sym typeface="Canva Sans"/>
              </a:rPr>
              <a:t>Biểu đồ hoạt động thêm sản phẩm vào giỏ hàng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625430" y="1777323"/>
            <a:ext cx="15037140" cy="7480977"/>
          </a:xfrm>
          <a:custGeom>
            <a:avLst/>
            <a:gdLst/>
            <a:ahLst/>
            <a:cxnLst/>
            <a:rect r="r" b="b" t="t" l="l"/>
            <a:pathLst>
              <a:path h="7480977" w="15037140">
                <a:moveTo>
                  <a:pt x="0" y="0"/>
                </a:moveTo>
                <a:lnTo>
                  <a:pt x="15037140" y="0"/>
                </a:lnTo>
                <a:lnTo>
                  <a:pt x="15037140" y="7480977"/>
                </a:lnTo>
                <a:lnTo>
                  <a:pt x="0" y="7480977"/>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đặt hàng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507046" y="1920866"/>
            <a:ext cx="15273907" cy="7675138"/>
          </a:xfrm>
          <a:custGeom>
            <a:avLst/>
            <a:gdLst/>
            <a:ahLst/>
            <a:cxnLst/>
            <a:rect r="r" b="b" t="t" l="l"/>
            <a:pathLst>
              <a:path h="7675138" w="15273907">
                <a:moveTo>
                  <a:pt x="0" y="0"/>
                </a:moveTo>
                <a:lnTo>
                  <a:pt x="15273908" y="0"/>
                </a:lnTo>
                <a:lnTo>
                  <a:pt x="15273908" y="7675139"/>
                </a:lnTo>
                <a:lnTo>
                  <a:pt x="0" y="7675139"/>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thanh toán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915219" y="1485900"/>
            <a:ext cx="14457562" cy="7897443"/>
          </a:xfrm>
          <a:custGeom>
            <a:avLst/>
            <a:gdLst/>
            <a:ahLst/>
            <a:cxnLst/>
            <a:rect r="r" b="b" t="t" l="l"/>
            <a:pathLst>
              <a:path h="7897443" w="14457562">
                <a:moveTo>
                  <a:pt x="0" y="0"/>
                </a:moveTo>
                <a:lnTo>
                  <a:pt x="14457562" y="0"/>
                </a:lnTo>
                <a:lnTo>
                  <a:pt x="14457562" y="7897443"/>
                </a:lnTo>
                <a:lnTo>
                  <a:pt x="0" y="7897443"/>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đăng nhập Admin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389597" y="1698310"/>
            <a:ext cx="13508806" cy="8155942"/>
          </a:xfrm>
          <a:custGeom>
            <a:avLst/>
            <a:gdLst/>
            <a:ahLst/>
            <a:cxnLst/>
            <a:rect r="r" b="b" t="t" l="l"/>
            <a:pathLst>
              <a:path h="8155942" w="13508806">
                <a:moveTo>
                  <a:pt x="0" y="0"/>
                </a:moveTo>
                <a:lnTo>
                  <a:pt x="13508806" y="0"/>
                </a:lnTo>
                <a:lnTo>
                  <a:pt x="13508806" y="8155942"/>
                </a:lnTo>
                <a:lnTo>
                  <a:pt x="0" y="8155942"/>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đăng xuất Admin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275091" y="2373005"/>
            <a:ext cx="15737817" cy="6885295"/>
          </a:xfrm>
          <a:custGeom>
            <a:avLst/>
            <a:gdLst/>
            <a:ahLst/>
            <a:cxnLst/>
            <a:rect r="r" b="b" t="t" l="l"/>
            <a:pathLst>
              <a:path h="6885295" w="15737817">
                <a:moveTo>
                  <a:pt x="0" y="0"/>
                </a:moveTo>
                <a:lnTo>
                  <a:pt x="15737818" y="0"/>
                </a:lnTo>
                <a:lnTo>
                  <a:pt x="15737818" y="6885295"/>
                </a:lnTo>
                <a:lnTo>
                  <a:pt x="0" y="6885295"/>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quản lý sản phẩm</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598615" y="2210770"/>
            <a:ext cx="15090770" cy="6639939"/>
          </a:xfrm>
          <a:custGeom>
            <a:avLst/>
            <a:gdLst/>
            <a:ahLst/>
            <a:cxnLst/>
            <a:rect r="r" b="b" t="t" l="l"/>
            <a:pathLst>
              <a:path h="6639939" w="15090770">
                <a:moveTo>
                  <a:pt x="0" y="0"/>
                </a:moveTo>
                <a:lnTo>
                  <a:pt x="15090770" y="0"/>
                </a:lnTo>
                <a:lnTo>
                  <a:pt x="15090770" y="6639939"/>
                </a:lnTo>
                <a:lnTo>
                  <a:pt x="0" y="6639939"/>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quản lý tài khoản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708054" y="1933859"/>
            <a:ext cx="14871891" cy="6487863"/>
          </a:xfrm>
          <a:custGeom>
            <a:avLst/>
            <a:gdLst/>
            <a:ahLst/>
            <a:cxnLst/>
            <a:rect r="r" b="b" t="t" l="l"/>
            <a:pathLst>
              <a:path h="6487863" w="14871891">
                <a:moveTo>
                  <a:pt x="0" y="0"/>
                </a:moveTo>
                <a:lnTo>
                  <a:pt x="14871892" y="0"/>
                </a:lnTo>
                <a:lnTo>
                  <a:pt x="14871892" y="6487862"/>
                </a:lnTo>
                <a:lnTo>
                  <a:pt x="0" y="6487862"/>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hoạt động quản lý đơn hàng</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401452" y="1832238"/>
            <a:ext cx="11485095" cy="7766796"/>
          </a:xfrm>
          <a:custGeom>
            <a:avLst/>
            <a:gdLst/>
            <a:ahLst/>
            <a:cxnLst/>
            <a:rect r="r" b="b" t="t" l="l"/>
            <a:pathLst>
              <a:path h="7766796" w="11485095">
                <a:moveTo>
                  <a:pt x="0" y="0"/>
                </a:moveTo>
                <a:lnTo>
                  <a:pt x="11485096" y="0"/>
                </a:lnTo>
                <a:lnTo>
                  <a:pt x="11485096" y="7766796"/>
                </a:lnTo>
                <a:lnTo>
                  <a:pt x="0" y="7766796"/>
                </a:lnTo>
                <a:lnTo>
                  <a:pt x="0" y="0"/>
                </a:lnTo>
                <a:close/>
              </a:path>
            </a:pathLst>
          </a:custGeom>
          <a:blipFill>
            <a:blip r:embed="rId3"/>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just" marL="0" indent="0" lvl="0">
              <a:lnSpc>
                <a:spcPts val="7200"/>
              </a:lnSpc>
              <a:spcBef>
                <a:spcPct val="0"/>
              </a:spcBef>
            </a:pPr>
            <a:r>
              <a:rPr lang="en-US" sz="6000">
                <a:solidFill>
                  <a:srgbClr val="000000"/>
                </a:solidFill>
                <a:latin typeface="Canva Sans"/>
                <a:ea typeface="Canva Sans"/>
                <a:cs typeface="Canva Sans"/>
                <a:sym typeface="Canva Sans"/>
              </a:rPr>
              <a:t>Biểu đồ tương tác tuần tự chức năng đăng kí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4479396" y="1575852"/>
            <a:ext cx="9329208" cy="8711148"/>
          </a:xfrm>
          <a:custGeom>
            <a:avLst/>
            <a:gdLst/>
            <a:ahLst/>
            <a:cxnLst/>
            <a:rect r="r" b="b" t="t" l="l"/>
            <a:pathLst>
              <a:path h="8711148" w="9329208">
                <a:moveTo>
                  <a:pt x="0" y="0"/>
                </a:moveTo>
                <a:lnTo>
                  <a:pt x="9329208" y="0"/>
                </a:lnTo>
                <a:lnTo>
                  <a:pt x="9329208" y="8711148"/>
                </a:lnTo>
                <a:lnTo>
                  <a:pt x="0" y="8711148"/>
                </a:lnTo>
                <a:lnTo>
                  <a:pt x="0" y="0"/>
                </a:lnTo>
                <a:close/>
              </a:path>
            </a:pathLst>
          </a:custGeom>
          <a:blipFill>
            <a:blip r:embed="rId3"/>
            <a:stretch>
              <a:fillRect l="0" t="0" r="0" b="0"/>
            </a:stretch>
          </a:blipFill>
        </p:spPr>
      </p:sp>
      <p:sp>
        <p:nvSpPr>
          <p:cNvPr name="TextBox 4" id="4"/>
          <p:cNvSpPr txBox="true"/>
          <p:nvPr/>
        </p:nvSpPr>
        <p:spPr>
          <a:xfrm rot="0">
            <a:off x="1028700" y="581025"/>
            <a:ext cx="17087850" cy="885825"/>
          </a:xfrm>
          <a:prstGeom prst="rect">
            <a:avLst/>
          </a:prstGeom>
        </p:spPr>
        <p:txBody>
          <a:bodyPr anchor="t" rtlCol="false" tIns="0" lIns="0" bIns="0" rIns="0">
            <a:spAutoFit/>
          </a:bodyPr>
          <a:lstStyle/>
          <a:p>
            <a:pPr algn="just" marL="0" indent="0" lvl="0">
              <a:lnSpc>
                <a:spcPts val="6960"/>
              </a:lnSpc>
              <a:spcBef>
                <a:spcPct val="0"/>
              </a:spcBef>
            </a:pPr>
            <a:r>
              <a:rPr lang="en-US" sz="5800">
                <a:solidFill>
                  <a:srgbClr val="000000"/>
                </a:solidFill>
                <a:latin typeface="Canva Sans"/>
                <a:ea typeface="Canva Sans"/>
                <a:cs typeface="Canva Sans"/>
                <a:sym typeface="Canva Sans"/>
              </a:rPr>
              <a:t>Biểu đồ tương tác tuần tự chức năng đăng nhập</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4355658" y="2015716"/>
            <a:ext cx="10433933" cy="7981959"/>
          </a:xfrm>
          <a:custGeom>
            <a:avLst/>
            <a:gdLst/>
            <a:ahLst/>
            <a:cxnLst/>
            <a:rect r="r" b="b" t="t" l="l"/>
            <a:pathLst>
              <a:path h="7981959" w="10433933">
                <a:moveTo>
                  <a:pt x="0" y="0"/>
                </a:moveTo>
                <a:lnTo>
                  <a:pt x="10433934" y="0"/>
                </a:lnTo>
                <a:lnTo>
                  <a:pt x="10433934" y="7981959"/>
                </a:lnTo>
                <a:lnTo>
                  <a:pt x="0" y="7981959"/>
                </a:lnTo>
                <a:lnTo>
                  <a:pt x="0" y="0"/>
                </a:lnTo>
                <a:close/>
              </a:path>
            </a:pathLst>
          </a:custGeom>
          <a:blipFill>
            <a:blip r:embed="rId3"/>
            <a:stretch>
              <a:fillRect l="0" t="0" r="0" b="0"/>
            </a:stretch>
          </a:blipFill>
        </p:spPr>
      </p:sp>
      <p:sp>
        <p:nvSpPr>
          <p:cNvPr name="TextBox 4" id="4"/>
          <p:cNvSpPr txBox="true"/>
          <p:nvPr/>
        </p:nvSpPr>
        <p:spPr>
          <a:xfrm rot="0">
            <a:off x="1028700" y="826943"/>
            <a:ext cx="17087850" cy="8191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xem sản phẩm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5433316" y="1808808"/>
            <a:ext cx="8150173" cy="8263800"/>
          </a:xfrm>
          <a:custGeom>
            <a:avLst/>
            <a:gdLst/>
            <a:ahLst/>
            <a:cxnLst/>
            <a:rect r="r" b="b" t="t" l="l"/>
            <a:pathLst>
              <a:path h="8263800" w="8150173">
                <a:moveTo>
                  <a:pt x="0" y="0"/>
                </a:moveTo>
                <a:lnTo>
                  <a:pt x="8150173" y="0"/>
                </a:lnTo>
                <a:lnTo>
                  <a:pt x="8150173" y="8263800"/>
                </a:lnTo>
                <a:lnTo>
                  <a:pt x="0" y="8263800"/>
                </a:lnTo>
                <a:lnTo>
                  <a:pt x="0" y="0"/>
                </a:lnTo>
                <a:close/>
              </a:path>
            </a:pathLst>
          </a:custGeom>
          <a:blipFill>
            <a:blip r:embed="rId3"/>
            <a:stretch>
              <a:fillRect l="0" t="0" r="0" b="0"/>
            </a:stretch>
          </a:blipFill>
        </p:spPr>
      </p:sp>
      <p:sp>
        <p:nvSpPr>
          <p:cNvPr name="TextBox 4" id="4"/>
          <p:cNvSpPr txBox="true"/>
          <p:nvPr/>
        </p:nvSpPr>
        <p:spPr>
          <a:xfrm rot="0">
            <a:off x="1028700" y="826943"/>
            <a:ext cx="17087850" cy="8191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đặt hàng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5625422" y="1862029"/>
            <a:ext cx="8065856" cy="8055773"/>
          </a:xfrm>
          <a:custGeom>
            <a:avLst/>
            <a:gdLst/>
            <a:ahLst/>
            <a:cxnLst/>
            <a:rect r="r" b="b" t="t" l="l"/>
            <a:pathLst>
              <a:path h="8055773" w="8065856">
                <a:moveTo>
                  <a:pt x="0" y="0"/>
                </a:moveTo>
                <a:lnTo>
                  <a:pt x="8065856" y="0"/>
                </a:lnTo>
                <a:lnTo>
                  <a:pt x="8065856" y="8055773"/>
                </a:lnTo>
                <a:lnTo>
                  <a:pt x="0" y="8055773"/>
                </a:lnTo>
                <a:lnTo>
                  <a:pt x="0" y="0"/>
                </a:lnTo>
                <a:close/>
              </a:path>
            </a:pathLst>
          </a:custGeom>
          <a:blipFill>
            <a:blip r:embed="rId3"/>
            <a:stretch>
              <a:fillRect l="0" t="0" r="0" b="0"/>
            </a:stretch>
          </a:blipFill>
        </p:spPr>
      </p:sp>
      <p:sp>
        <p:nvSpPr>
          <p:cNvPr name="TextBox 4" id="4"/>
          <p:cNvSpPr txBox="true"/>
          <p:nvPr/>
        </p:nvSpPr>
        <p:spPr>
          <a:xfrm rot="0">
            <a:off x="1028700" y="599209"/>
            <a:ext cx="17259300" cy="163830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thêm sản phẩm vào giỏ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695243" y="1983798"/>
            <a:ext cx="11926215" cy="8065103"/>
          </a:xfrm>
          <a:custGeom>
            <a:avLst/>
            <a:gdLst/>
            <a:ahLst/>
            <a:cxnLst/>
            <a:rect r="r" b="b" t="t" l="l"/>
            <a:pathLst>
              <a:path h="8065103" w="11926215">
                <a:moveTo>
                  <a:pt x="0" y="0"/>
                </a:moveTo>
                <a:lnTo>
                  <a:pt x="11926214" y="0"/>
                </a:lnTo>
                <a:lnTo>
                  <a:pt x="11926214" y="8065103"/>
                </a:lnTo>
                <a:lnTo>
                  <a:pt x="0" y="8065103"/>
                </a:lnTo>
                <a:lnTo>
                  <a:pt x="0" y="0"/>
                </a:lnTo>
                <a:close/>
              </a:path>
            </a:pathLst>
          </a:custGeom>
          <a:blipFill>
            <a:blip r:embed="rId3"/>
            <a:stretch>
              <a:fillRect l="0" t="0" r="0" b="0"/>
            </a:stretch>
          </a:blipFill>
        </p:spPr>
      </p:sp>
      <p:sp>
        <p:nvSpPr>
          <p:cNvPr name="TextBox 4" id="4"/>
          <p:cNvSpPr txBox="true"/>
          <p:nvPr/>
        </p:nvSpPr>
        <p:spPr>
          <a:xfrm rot="0">
            <a:off x="1028700" y="1008784"/>
            <a:ext cx="17259300" cy="8191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đăng kí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5318943" y="1983798"/>
            <a:ext cx="8678814" cy="8103842"/>
          </a:xfrm>
          <a:custGeom>
            <a:avLst/>
            <a:gdLst/>
            <a:ahLst/>
            <a:cxnLst/>
            <a:rect r="r" b="b" t="t" l="l"/>
            <a:pathLst>
              <a:path h="8103842" w="8678814">
                <a:moveTo>
                  <a:pt x="0" y="0"/>
                </a:moveTo>
                <a:lnTo>
                  <a:pt x="8678814" y="0"/>
                </a:lnTo>
                <a:lnTo>
                  <a:pt x="8678814" y="8103842"/>
                </a:lnTo>
                <a:lnTo>
                  <a:pt x="0" y="8103842"/>
                </a:lnTo>
                <a:lnTo>
                  <a:pt x="0" y="0"/>
                </a:lnTo>
                <a:close/>
              </a:path>
            </a:pathLst>
          </a:custGeom>
          <a:blipFill>
            <a:blip r:embed="rId3"/>
            <a:stretch>
              <a:fillRect l="0" t="0" r="0" b="0"/>
            </a:stretch>
          </a:blipFill>
        </p:spPr>
      </p:sp>
      <p:sp>
        <p:nvSpPr>
          <p:cNvPr name="TextBox 4" id="4"/>
          <p:cNvSpPr txBox="true"/>
          <p:nvPr/>
        </p:nvSpPr>
        <p:spPr>
          <a:xfrm rot="0">
            <a:off x="1028700" y="1008784"/>
            <a:ext cx="17259300" cy="8191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đăng nhập</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4625984" y="2145603"/>
            <a:ext cx="10064731" cy="7699520"/>
          </a:xfrm>
          <a:custGeom>
            <a:avLst/>
            <a:gdLst/>
            <a:ahLst/>
            <a:cxnLst/>
            <a:rect r="r" b="b" t="t" l="l"/>
            <a:pathLst>
              <a:path h="7699520" w="10064731">
                <a:moveTo>
                  <a:pt x="0" y="0"/>
                </a:moveTo>
                <a:lnTo>
                  <a:pt x="10064732" y="0"/>
                </a:lnTo>
                <a:lnTo>
                  <a:pt x="10064732" y="7699519"/>
                </a:lnTo>
                <a:lnTo>
                  <a:pt x="0" y="7699519"/>
                </a:lnTo>
                <a:lnTo>
                  <a:pt x="0" y="0"/>
                </a:lnTo>
                <a:close/>
              </a:path>
            </a:pathLst>
          </a:custGeom>
          <a:blipFill>
            <a:blip r:embed="rId3"/>
            <a:stretch>
              <a:fillRect l="0" t="0" r="0" b="0"/>
            </a:stretch>
          </a:blipFill>
        </p:spPr>
      </p:sp>
      <p:sp>
        <p:nvSpPr>
          <p:cNvPr name="TextBox 4" id="4"/>
          <p:cNvSpPr txBox="true"/>
          <p:nvPr/>
        </p:nvSpPr>
        <p:spPr>
          <a:xfrm rot="0">
            <a:off x="1028700" y="1008784"/>
            <a:ext cx="17259300" cy="8191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xem sản phẩm </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5254731" y="2002753"/>
            <a:ext cx="7778539" cy="7886985"/>
          </a:xfrm>
          <a:custGeom>
            <a:avLst/>
            <a:gdLst/>
            <a:ahLst/>
            <a:cxnLst/>
            <a:rect r="r" b="b" t="t" l="l"/>
            <a:pathLst>
              <a:path h="7886985" w="7778539">
                <a:moveTo>
                  <a:pt x="0" y="0"/>
                </a:moveTo>
                <a:lnTo>
                  <a:pt x="7778538" y="0"/>
                </a:lnTo>
                <a:lnTo>
                  <a:pt x="7778538" y="7886985"/>
                </a:lnTo>
                <a:lnTo>
                  <a:pt x="0" y="7886985"/>
                </a:lnTo>
                <a:lnTo>
                  <a:pt x="0" y="0"/>
                </a:lnTo>
                <a:close/>
              </a:path>
            </a:pathLst>
          </a:custGeom>
          <a:blipFill>
            <a:blip r:embed="rId3"/>
            <a:stretch>
              <a:fillRect l="0" t="0" r="0" b="0"/>
            </a:stretch>
          </a:blipFill>
        </p:spPr>
      </p:sp>
      <p:sp>
        <p:nvSpPr>
          <p:cNvPr name="TextBox 4" id="4"/>
          <p:cNvSpPr txBox="true"/>
          <p:nvPr/>
        </p:nvSpPr>
        <p:spPr>
          <a:xfrm rot="0">
            <a:off x="1028700" y="1008784"/>
            <a:ext cx="17259300" cy="8191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đặt hàng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5632014" y="1587114"/>
            <a:ext cx="8221638" cy="8211361"/>
          </a:xfrm>
          <a:custGeom>
            <a:avLst/>
            <a:gdLst/>
            <a:ahLst/>
            <a:cxnLst/>
            <a:rect r="r" b="b" t="t" l="l"/>
            <a:pathLst>
              <a:path h="8211361" w="8221638">
                <a:moveTo>
                  <a:pt x="0" y="0"/>
                </a:moveTo>
                <a:lnTo>
                  <a:pt x="8221638" y="0"/>
                </a:lnTo>
                <a:lnTo>
                  <a:pt x="8221638" y="8211361"/>
                </a:lnTo>
                <a:lnTo>
                  <a:pt x="0" y="8211361"/>
                </a:lnTo>
                <a:lnTo>
                  <a:pt x="0" y="0"/>
                </a:lnTo>
                <a:close/>
              </a:path>
            </a:pathLst>
          </a:custGeom>
          <a:blipFill>
            <a:blip r:embed="rId3"/>
            <a:stretch>
              <a:fillRect l="0" t="0" r="0" b="0"/>
            </a:stretch>
          </a:blipFill>
        </p:spPr>
      </p:sp>
      <p:sp>
        <p:nvSpPr>
          <p:cNvPr name="TextBox 4" id="4"/>
          <p:cNvSpPr txBox="true"/>
          <p:nvPr/>
        </p:nvSpPr>
        <p:spPr>
          <a:xfrm rot="0">
            <a:off x="1028700" y="189634"/>
            <a:ext cx="17259300" cy="24574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Biểu đồ tương tác tuần tự chức năng thêm sản phẩm vào giỏ </a:t>
            </a:r>
          </a:p>
          <a:p>
            <a:pPr algn="just" marL="0" indent="0" lvl="0">
              <a:lnSpc>
                <a:spcPts val="6480"/>
              </a:lnSpc>
              <a:spcBef>
                <a:spcPct val="0"/>
              </a:spcBef>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3034104" y="1827934"/>
            <a:ext cx="13248492" cy="7700686"/>
          </a:xfrm>
          <a:custGeom>
            <a:avLst/>
            <a:gdLst/>
            <a:ahLst/>
            <a:cxnLst/>
            <a:rect r="r" b="b" t="t" l="l"/>
            <a:pathLst>
              <a:path h="7700686" w="13248492">
                <a:moveTo>
                  <a:pt x="0" y="0"/>
                </a:moveTo>
                <a:lnTo>
                  <a:pt x="13248492" y="0"/>
                </a:lnTo>
                <a:lnTo>
                  <a:pt x="13248492" y="7700686"/>
                </a:lnTo>
                <a:lnTo>
                  <a:pt x="0" y="7700686"/>
                </a:lnTo>
                <a:lnTo>
                  <a:pt x="0" y="0"/>
                </a:lnTo>
                <a:close/>
              </a:path>
            </a:pathLst>
          </a:custGeom>
          <a:blipFill>
            <a:blip r:embed="rId3"/>
            <a:stretch>
              <a:fillRect l="0" t="0" r="0" b="0"/>
            </a:stretch>
          </a:blipFill>
        </p:spPr>
      </p:sp>
      <p:sp>
        <p:nvSpPr>
          <p:cNvPr name="TextBox 4" id="4"/>
          <p:cNvSpPr txBox="true"/>
          <p:nvPr/>
        </p:nvSpPr>
        <p:spPr>
          <a:xfrm rot="0">
            <a:off x="1028700" y="1008784"/>
            <a:ext cx="17259300" cy="819150"/>
          </a:xfrm>
          <a:prstGeom prst="rect">
            <a:avLst/>
          </a:prstGeom>
        </p:spPr>
        <p:txBody>
          <a:bodyPr anchor="t" rtlCol="false" tIns="0" lIns="0" bIns="0" rIns="0">
            <a:spAutoFit/>
          </a:bodyPr>
          <a:lstStyle/>
          <a:p>
            <a:pPr algn="just" marL="0" indent="0" lvl="0">
              <a:lnSpc>
                <a:spcPts val="6480"/>
              </a:lnSpc>
              <a:spcBef>
                <a:spcPct val="0"/>
              </a:spcBef>
            </a:pPr>
            <a:r>
              <a:rPr lang="en-US" sz="5400">
                <a:solidFill>
                  <a:srgbClr val="000000"/>
                </a:solidFill>
                <a:latin typeface="Canva Sans"/>
                <a:ea typeface="Canva Sans"/>
                <a:cs typeface="Canva Sans"/>
                <a:sym typeface="Canva Sans"/>
              </a:rPr>
              <a:t>Mô hình Class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073981" y="2685069"/>
            <a:ext cx="14140038" cy="6751868"/>
          </a:xfrm>
          <a:custGeom>
            <a:avLst/>
            <a:gdLst/>
            <a:ahLst/>
            <a:cxnLst/>
            <a:rect r="r" b="b" t="t" l="l"/>
            <a:pathLst>
              <a:path h="6751868" w="14140038">
                <a:moveTo>
                  <a:pt x="0" y="0"/>
                </a:moveTo>
                <a:lnTo>
                  <a:pt x="14140038" y="0"/>
                </a:lnTo>
                <a:lnTo>
                  <a:pt x="14140038" y="6751868"/>
                </a:lnTo>
                <a:lnTo>
                  <a:pt x="0" y="6751868"/>
                </a:lnTo>
                <a:lnTo>
                  <a:pt x="0" y="0"/>
                </a:lnTo>
                <a:close/>
              </a:path>
            </a:pathLst>
          </a:custGeom>
          <a:blipFill>
            <a:blip r:embed="rId3"/>
            <a:stretch>
              <a:fillRect l="0" t="0" r="0" b="0"/>
            </a:stretch>
          </a:blipFill>
        </p:spPr>
      </p:sp>
      <p:sp>
        <p:nvSpPr>
          <p:cNvPr name="TextBox 4" id="4"/>
          <p:cNvSpPr txBox="true"/>
          <p:nvPr/>
        </p:nvSpPr>
        <p:spPr>
          <a:xfrm rot="0">
            <a:off x="1028700" y="625186"/>
            <a:ext cx="17259300" cy="1638300"/>
          </a:xfrm>
          <a:prstGeom prst="rect">
            <a:avLst/>
          </a:prstGeom>
        </p:spPr>
        <p:txBody>
          <a:bodyPr anchor="t" rtlCol="false" tIns="0" lIns="0" bIns="0" rIns="0">
            <a:spAutoFit/>
          </a:bodyPr>
          <a:lstStyle/>
          <a:p>
            <a:pPr algn="just">
              <a:lnSpc>
                <a:spcPts val="6480"/>
              </a:lnSpc>
            </a:pPr>
            <a:r>
              <a:rPr lang="en-US" sz="5400">
                <a:solidFill>
                  <a:srgbClr val="000000"/>
                </a:solidFill>
                <a:latin typeface="Canva Sans"/>
                <a:ea typeface="Canva Sans"/>
                <a:cs typeface="Canva Sans"/>
                <a:sym typeface="Canva Sans"/>
              </a:rPr>
              <a:t>Xây dựng giao diện các chức năng sản phẩm</a:t>
            </a:r>
          </a:p>
          <a:p>
            <a:pPr algn="just" marL="0" indent="0" lvl="0">
              <a:lnSpc>
                <a:spcPts val="6480"/>
              </a:lnSpc>
              <a:spcBef>
                <a:spcPct val="0"/>
              </a:spcBef>
            </a:pPr>
          </a:p>
        </p:txBody>
      </p:sp>
      <p:sp>
        <p:nvSpPr>
          <p:cNvPr name="TextBox 5" id="5"/>
          <p:cNvSpPr txBox="true"/>
          <p:nvPr/>
        </p:nvSpPr>
        <p:spPr>
          <a:xfrm rot="0">
            <a:off x="1028700" y="1733550"/>
            <a:ext cx="5974080" cy="685800"/>
          </a:xfrm>
          <a:prstGeom prst="rect">
            <a:avLst/>
          </a:prstGeom>
        </p:spPr>
        <p:txBody>
          <a:bodyPr anchor="t" rtlCol="false" tIns="0" lIns="0" bIns="0" rIns="0">
            <a:spAutoFit/>
          </a:bodyPr>
          <a:lstStyle/>
          <a:p>
            <a:pPr algn="ctr">
              <a:lnSpc>
                <a:spcPts val="5400"/>
              </a:lnSpc>
              <a:spcBef>
                <a:spcPct val="0"/>
              </a:spcBef>
            </a:pPr>
            <a:r>
              <a:rPr lang="en-US" sz="4500">
                <a:solidFill>
                  <a:srgbClr val="000000"/>
                </a:solidFill>
                <a:latin typeface="Canva Sans"/>
                <a:ea typeface="Canva Sans"/>
                <a:cs typeface="Canva Sans"/>
                <a:sym typeface="Canva Sans"/>
              </a:rPr>
              <a:t>Chức năng đăng nhập</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540422" y="1635713"/>
            <a:ext cx="15207156" cy="7622587"/>
          </a:xfrm>
          <a:custGeom>
            <a:avLst/>
            <a:gdLst/>
            <a:ahLst/>
            <a:cxnLst/>
            <a:rect r="r" b="b" t="t" l="l"/>
            <a:pathLst>
              <a:path h="7622587" w="15207156">
                <a:moveTo>
                  <a:pt x="0" y="0"/>
                </a:moveTo>
                <a:lnTo>
                  <a:pt x="15207156" y="0"/>
                </a:lnTo>
                <a:lnTo>
                  <a:pt x="15207156" y="7622587"/>
                </a:lnTo>
                <a:lnTo>
                  <a:pt x="0" y="7622587"/>
                </a:lnTo>
                <a:lnTo>
                  <a:pt x="0" y="0"/>
                </a:lnTo>
                <a:close/>
              </a:path>
            </a:pathLst>
          </a:custGeom>
          <a:blipFill>
            <a:blip r:embed="rId3"/>
            <a:stretch>
              <a:fillRect l="0" t="0" r="0" b="0"/>
            </a:stretch>
          </a:blipFill>
        </p:spPr>
      </p:sp>
      <p:sp>
        <p:nvSpPr>
          <p:cNvPr name="TextBox 4" id="4"/>
          <p:cNvSpPr txBox="true"/>
          <p:nvPr/>
        </p:nvSpPr>
        <p:spPr>
          <a:xfrm rot="0">
            <a:off x="1028700" y="685800"/>
            <a:ext cx="74856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Tra</a:t>
            </a:r>
            <a:r>
              <a:rPr lang="en-US" sz="4500">
                <a:solidFill>
                  <a:srgbClr val="000000"/>
                </a:solidFill>
                <a:latin typeface="Canva Sans"/>
                <a:ea typeface="Canva Sans"/>
                <a:cs typeface="Canva Sans"/>
                <a:sym typeface="Canva Sans"/>
              </a:rPr>
              <a:t>ng chủ </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819757" y="1928762"/>
            <a:ext cx="14648486" cy="7525660"/>
          </a:xfrm>
          <a:custGeom>
            <a:avLst/>
            <a:gdLst/>
            <a:ahLst/>
            <a:cxnLst/>
            <a:rect r="r" b="b" t="t" l="l"/>
            <a:pathLst>
              <a:path h="7525660" w="14648486">
                <a:moveTo>
                  <a:pt x="0" y="0"/>
                </a:moveTo>
                <a:lnTo>
                  <a:pt x="14648486" y="0"/>
                </a:lnTo>
                <a:lnTo>
                  <a:pt x="14648486" y="7525660"/>
                </a:lnTo>
                <a:lnTo>
                  <a:pt x="0" y="7525660"/>
                </a:lnTo>
                <a:lnTo>
                  <a:pt x="0" y="0"/>
                </a:lnTo>
                <a:close/>
              </a:path>
            </a:pathLst>
          </a:custGeom>
          <a:blipFill>
            <a:blip r:embed="rId3"/>
            <a:stretch>
              <a:fillRect l="0" t="0" r="0" b="0"/>
            </a:stretch>
          </a:blipFill>
        </p:spPr>
      </p:sp>
      <p:sp>
        <p:nvSpPr>
          <p:cNvPr name="TextBox 4" id="4"/>
          <p:cNvSpPr txBox="true"/>
          <p:nvPr/>
        </p:nvSpPr>
        <p:spPr>
          <a:xfrm rot="0">
            <a:off x="1028700" y="685800"/>
            <a:ext cx="74856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tra</a:t>
            </a:r>
            <a:r>
              <a:rPr lang="en-US" sz="4500">
                <a:solidFill>
                  <a:srgbClr val="000000"/>
                </a:solidFill>
                <a:latin typeface="Canva Sans"/>
                <a:ea typeface="Canva Sans"/>
                <a:cs typeface="Canva Sans"/>
                <a:sym typeface="Canva Sans"/>
              </a:rPr>
              <a:t>ng sản phẩm</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854271" y="2112879"/>
            <a:ext cx="14579458" cy="7417299"/>
          </a:xfrm>
          <a:custGeom>
            <a:avLst/>
            <a:gdLst/>
            <a:ahLst/>
            <a:cxnLst/>
            <a:rect r="r" b="b" t="t" l="l"/>
            <a:pathLst>
              <a:path h="7417299" w="14579458">
                <a:moveTo>
                  <a:pt x="0" y="0"/>
                </a:moveTo>
                <a:lnTo>
                  <a:pt x="14579458" y="0"/>
                </a:lnTo>
                <a:lnTo>
                  <a:pt x="14579458" y="7417299"/>
                </a:lnTo>
                <a:lnTo>
                  <a:pt x="0" y="7417299"/>
                </a:lnTo>
                <a:lnTo>
                  <a:pt x="0" y="0"/>
                </a:lnTo>
                <a:close/>
              </a:path>
            </a:pathLst>
          </a:custGeom>
          <a:blipFill>
            <a:blip r:embed="rId3"/>
            <a:stretch>
              <a:fillRect l="0" t="0" r="0" b="0"/>
            </a:stretch>
          </a:blipFill>
        </p:spPr>
      </p:sp>
      <p:sp>
        <p:nvSpPr>
          <p:cNvPr name="TextBox 4" id="4"/>
          <p:cNvSpPr txBox="true"/>
          <p:nvPr/>
        </p:nvSpPr>
        <p:spPr>
          <a:xfrm rot="0">
            <a:off x="1028700" y="685800"/>
            <a:ext cx="74856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chi tiết</a:t>
            </a:r>
            <a:r>
              <a:rPr lang="en-US" sz="4500">
                <a:solidFill>
                  <a:srgbClr val="000000"/>
                </a:solidFill>
                <a:latin typeface="Canva Sans"/>
                <a:ea typeface="Canva Sans"/>
                <a:cs typeface="Canva Sans"/>
                <a:sym typeface="Canva Sans"/>
              </a:rPr>
              <a:t> sản phẩm</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857544" y="1748809"/>
            <a:ext cx="14572912" cy="7304672"/>
          </a:xfrm>
          <a:custGeom>
            <a:avLst/>
            <a:gdLst/>
            <a:ahLst/>
            <a:cxnLst/>
            <a:rect r="r" b="b" t="t" l="l"/>
            <a:pathLst>
              <a:path h="7304672" w="14572912">
                <a:moveTo>
                  <a:pt x="0" y="0"/>
                </a:moveTo>
                <a:lnTo>
                  <a:pt x="14572912" y="0"/>
                </a:lnTo>
                <a:lnTo>
                  <a:pt x="14572912" y="7304672"/>
                </a:lnTo>
                <a:lnTo>
                  <a:pt x="0" y="7304672"/>
                </a:lnTo>
                <a:lnTo>
                  <a:pt x="0" y="0"/>
                </a:lnTo>
                <a:close/>
              </a:path>
            </a:pathLst>
          </a:custGeom>
          <a:blipFill>
            <a:blip r:embed="rId3"/>
            <a:stretch>
              <a:fillRect l="0" t="0" r="0" b="0"/>
            </a:stretch>
          </a:blipFill>
        </p:spPr>
      </p:sp>
      <p:sp>
        <p:nvSpPr>
          <p:cNvPr name="TextBox 4" id="4"/>
          <p:cNvSpPr txBox="true"/>
          <p:nvPr/>
        </p:nvSpPr>
        <p:spPr>
          <a:xfrm rot="0">
            <a:off x="1028700" y="685800"/>
            <a:ext cx="74856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trang giỏ</a:t>
            </a:r>
            <a:r>
              <a:rPr lang="en-US" sz="4500">
                <a:solidFill>
                  <a:srgbClr val="000000"/>
                </a:solidFill>
                <a:latin typeface="Canva Sans"/>
                <a:ea typeface="Canva Sans"/>
                <a:cs typeface="Canva Sans"/>
                <a:sym typeface="Canva Sans"/>
              </a:rPr>
              <a:t> hàng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951480" y="1775174"/>
            <a:ext cx="14385041" cy="7318389"/>
          </a:xfrm>
          <a:custGeom>
            <a:avLst/>
            <a:gdLst/>
            <a:ahLst/>
            <a:cxnLst/>
            <a:rect r="r" b="b" t="t" l="l"/>
            <a:pathLst>
              <a:path h="7318389" w="14385041">
                <a:moveTo>
                  <a:pt x="0" y="0"/>
                </a:moveTo>
                <a:lnTo>
                  <a:pt x="14385040" y="0"/>
                </a:lnTo>
                <a:lnTo>
                  <a:pt x="14385040" y="7318389"/>
                </a:lnTo>
                <a:lnTo>
                  <a:pt x="0" y="7318389"/>
                </a:lnTo>
                <a:lnTo>
                  <a:pt x="0" y="0"/>
                </a:lnTo>
                <a:close/>
              </a:path>
            </a:pathLst>
          </a:custGeom>
          <a:blipFill>
            <a:blip r:embed="rId3"/>
            <a:stretch>
              <a:fillRect l="0" t="0" r="0" b="0"/>
            </a:stretch>
          </a:blipFill>
        </p:spPr>
      </p:sp>
      <p:sp>
        <p:nvSpPr>
          <p:cNvPr name="TextBox 4" id="4"/>
          <p:cNvSpPr txBox="true"/>
          <p:nvPr/>
        </p:nvSpPr>
        <p:spPr>
          <a:xfrm rot="0">
            <a:off x="1028700" y="685800"/>
            <a:ext cx="74856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đơn</a:t>
            </a:r>
            <a:r>
              <a:rPr lang="en-US" sz="4500">
                <a:solidFill>
                  <a:srgbClr val="000000"/>
                </a:solidFill>
                <a:latin typeface="Canva Sans"/>
                <a:ea typeface="Canva Sans"/>
                <a:cs typeface="Canva Sans"/>
                <a:sym typeface="Canva Sans"/>
              </a:rPr>
              <a:t> hàng</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2893837" y="1667741"/>
            <a:ext cx="12500326" cy="7781453"/>
          </a:xfrm>
          <a:custGeom>
            <a:avLst/>
            <a:gdLst/>
            <a:ahLst/>
            <a:cxnLst/>
            <a:rect r="r" b="b" t="t" l="l"/>
            <a:pathLst>
              <a:path h="7781453" w="12500326">
                <a:moveTo>
                  <a:pt x="0" y="0"/>
                </a:moveTo>
                <a:lnTo>
                  <a:pt x="12500326" y="0"/>
                </a:lnTo>
                <a:lnTo>
                  <a:pt x="12500326" y="7781453"/>
                </a:lnTo>
                <a:lnTo>
                  <a:pt x="0" y="7781453"/>
                </a:lnTo>
                <a:lnTo>
                  <a:pt x="0" y="0"/>
                </a:lnTo>
                <a:close/>
              </a:path>
            </a:pathLst>
          </a:custGeom>
          <a:blipFill>
            <a:blip r:embed="rId3"/>
            <a:stretch>
              <a:fillRect l="0" t="0" r="0" b="0"/>
            </a:stretch>
          </a:blipFill>
        </p:spPr>
      </p:sp>
      <p:sp>
        <p:nvSpPr>
          <p:cNvPr name="TextBox 4" id="4"/>
          <p:cNvSpPr txBox="true"/>
          <p:nvPr/>
        </p:nvSpPr>
        <p:spPr>
          <a:xfrm rot="0">
            <a:off x="1028700" y="685800"/>
            <a:ext cx="81153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mã QR thanh</a:t>
            </a:r>
            <a:r>
              <a:rPr lang="en-US" sz="4500">
                <a:solidFill>
                  <a:srgbClr val="000000"/>
                </a:solidFill>
                <a:latin typeface="Canva Sans"/>
                <a:ea typeface="Canva Sans"/>
                <a:cs typeface="Canva Sans"/>
                <a:sym typeface="Canva Sans"/>
              </a:rPr>
              <a:t> toán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685352" y="2324393"/>
            <a:ext cx="14917295" cy="7458648"/>
          </a:xfrm>
          <a:custGeom>
            <a:avLst/>
            <a:gdLst/>
            <a:ahLst/>
            <a:cxnLst/>
            <a:rect r="r" b="b" t="t" l="l"/>
            <a:pathLst>
              <a:path h="7458648" w="14917295">
                <a:moveTo>
                  <a:pt x="0" y="0"/>
                </a:moveTo>
                <a:lnTo>
                  <a:pt x="14917296" y="0"/>
                </a:lnTo>
                <a:lnTo>
                  <a:pt x="14917296" y="7458648"/>
                </a:lnTo>
                <a:lnTo>
                  <a:pt x="0" y="7458648"/>
                </a:lnTo>
                <a:lnTo>
                  <a:pt x="0" y="0"/>
                </a:lnTo>
                <a:close/>
              </a:path>
            </a:pathLst>
          </a:custGeom>
          <a:blipFill>
            <a:blip r:embed="rId3"/>
            <a:stretch>
              <a:fillRect l="0" t="0" r="0" b="0"/>
            </a:stretch>
          </a:blipFill>
        </p:spPr>
      </p:sp>
      <p:sp>
        <p:nvSpPr>
          <p:cNvPr name="TextBox 4" id="4"/>
          <p:cNvSpPr txBox="true"/>
          <p:nvPr/>
        </p:nvSpPr>
        <p:spPr>
          <a:xfrm rot="0">
            <a:off x="1028700" y="685800"/>
            <a:ext cx="16230600" cy="13716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quản lý sản phẩm (gồm bộ lọc và chức năng thêm, xóa,</a:t>
            </a:r>
            <a:r>
              <a:rPr lang="en-US" sz="4500">
                <a:solidFill>
                  <a:srgbClr val="000000"/>
                </a:solidFill>
                <a:latin typeface="Canva Sans"/>
                <a:ea typeface="Canva Sans"/>
                <a:cs typeface="Canva Sans"/>
                <a:sym typeface="Canva Sans"/>
              </a:rPr>
              <a:t> sửa sản phẩm </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207918" y="1604633"/>
            <a:ext cx="15872163" cy="7955922"/>
          </a:xfrm>
          <a:custGeom>
            <a:avLst/>
            <a:gdLst/>
            <a:ahLst/>
            <a:cxnLst/>
            <a:rect r="r" b="b" t="t" l="l"/>
            <a:pathLst>
              <a:path h="7955922" w="15872163">
                <a:moveTo>
                  <a:pt x="0" y="0"/>
                </a:moveTo>
                <a:lnTo>
                  <a:pt x="15872164" y="0"/>
                </a:lnTo>
                <a:lnTo>
                  <a:pt x="15872164" y="7955922"/>
                </a:lnTo>
                <a:lnTo>
                  <a:pt x="0" y="7955922"/>
                </a:lnTo>
                <a:lnTo>
                  <a:pt x="0" y="0"/>
                </a:lnTo>
                <a:close/>
              </a:path>
            </a:pathLst>
          </a:custGeom>
          <a:blipFill>
            <a:blip r:embed="rId3"/>
            <a:stretch>
              <a:fillRect l="0" t="0" r="0" b="0"/>
            </a:stretch>
          </a:blipFill>
        </p:spPr>
      </p:sp>
      <p:sp>
        <p:nvSpPr>
          <p:cNvPr name="TextBox 4" id="4"/>
          <p:cNvSpPr txBox="true"/>
          <p:nvPr/>
        </p:nvSpPr>
        <p:spPr>
          <a:xfrm rot="0">
            <a:off x="1028700" y="685800"/>
            <a:ext cx="162306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quản lý người dùng</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8580"/>
            <a:ext cx="18288000" cy="10218420"/>
          </a:xfrm>
          <a:custGeom>
            <a:avLst/>
            <a:gdLst/>
            <a:ahLst/>
            <a:cxnLst/>
            <a:rect r="r" b="b" t="t" l="l"/>
            <a:pathLst>
              <a:path h="10218420" w="18288000">
                <a:moveTo>
                  <a:pt x="0" y="0"/>
                </a:moveTo>
                <a:lnTo>
                  <a:pt x="18288000" y="0"/>
                </a:lnTo>
                <a:lnTo>
                  <a:pt x="18288000" y="10218420"/>
                </a:lnTo>
                <a:lnTo>
                  <a:pt x="0" y="10218420"/>
                </a:lnTo>
                <a:lnTo>
                  <a:pt x="0" y="0"/>
                </a:lnTo>
                <a:close/>
              </a:path>
            </a:pathLst>
          </a:custGeom>
          <a:blipFill>
            <a:blip r:embed="rId2"/>
            <a:stretch>
              <a:fillRect l="0" t="0" r="0" b="0"/>
            </a:stretch>
          </a:blipFill>
        </p:spPr>
      </p:sp>
      <p:sp>
        <p:nvSpPr>
          <p:cNvPr name="Freeform 3" id="3"/>
          <p:cNvSpPr/>
          <p:nvPr/>
        </p:nvSpPr>
        <p:spPr>
          <a:xfrm flipH="false" flipV="false" rot="0">
            <a:off x="1581580" y="2324537"/>
            <a:ext cx="15505679" cy="4341590"/>
          </a:xfrm>
          <a:custGeom>
            <a:avLst/>
            <a:gdLst/>
            <a:ahLst/>
            <a:cxnLst/>
            <a:rect r="r" b="b" t="t" l="l"/>
            <a:pathLst>
              <a:path h="4341590" w="15505679">
                <a:moveTo>
                  <a:pt x="0" y="0"/>
                </a:moveTo>
                <a:lnTo>
                  <a:pt x="15505679" y="0"/>
                </a:lnTo>
                <a:lnTo>
                  <a:pt x="15505679" y="4341590"/>
                </a:lnTo>
                <a:lnTo>
                  <a:pt x="0" y="4341590"/>
                </a:lnTo>
                <a:lnTo>
                  <a:pt x="0" y="0"/>
                </a:lnTo>
                <a:close/>
              </a:path>
            </a:pathLst>
          </a:custGeom>
          <a:blipFill>
            <a:blip r:embed="rId3"/>
            <a:stretch>
              <a:fillRect l="0" t="0" r="0" b="0"/>
            </a:stretch>
          </a:blipFill>
        </p:spPr>
      </p:sp>
      <p:sp>
        <p:nvSpPr>
          <p:cNvPr name="TextBox 4" id="4"/>
          <p:cNvSpPr txBox="true"/>
          <p:nvPr/>
        </p:nvSpPr>
        <p:spPr>
          <a:xfrm rot="0">
            <a:off x="1028700" y="685800"/>
            <a:ext cx="16230600" cy="685800"/>
          </a:xfrm>
          <a:prstGeom prst="rect">
            <a:avLst/>
          </a:prstGeom>
        </p:spPr>
        <p:txBody>
          <a:bodyPr anchor="t" rtlCol="false" tIns="0" lIns="0" bIns="0" rIns="0">
            <a:spAutoFit/>
          </a:bodyPr>
          <a:lstStyle/>
          <a:p>
            <a:pPr algn="just">
              <a:lnSpc>
                <a:spcPts val="5400"/>
              </a:lnSpc>
              <a:spcBef>
                <a:spcPct val="0"/>
              </a:spcBef>
            </a:pPr>
            <a:r>
              <a:rPr lang="en-US" sz="4500">
                <a:solidFill>
                  <a:srgbClr val="000000"/>
                </a:solidFill>
                <a:latin typeface="Canva Sans"/>
                <a:ea typeface="Canva Sans"/>
                <a:cs typeface="Canva Sans"/>
                <a:sym typeface="Canva Sans"/>
              </a:rPr>
              <a:t>Giao diện quản lý đơn hàng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DAHEKxjddFA</dc:identifier>
  <dcterms:modified xsi:type="dcterms:W3CDTF">2011-08-01T06:04:30Z</dcterms:modified>
  <cp:revision>1</cp:revision>
  <dc:title>Baocaodetai_dacs_nganhcntt_nhom03_final</dc:title>
</cp:coreProperties>
</file>